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omments/comment8.xml" ContentType="application/vnd.openxmlformats-officedocument.presentationml.comments+xml"/>
  <Override PartName="/ppt/comments/comment9.xml" ContentType="application/vnd.openxmlformats-officedocument.presentationml.comment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>
  <p:sldMasterIdLst>
    <p:sldMasterId id="2147483648" r:id="rId1"/>
  </p:sldMasterIdLst>
  <p:notesMasterIdLst>
    <p:notesMasterId r:id="rId4"/>
  </p:notesMasterIdLst>
  <p:handoutMasterIdLst>
    <p:handoutMasterId r:id="rId55"/>
  </p:handoutMasterIdLst>
  <p:sldIdLst>
    <p:sldId id="256" r:id="rId3"/>
    <p:sldId id="308" r:id="rId5"/>
    <p:sldId id="310" r:id="rId6"/>
    <p:sldId id="309" r:id="rId7"/>
    <p:sldId id="259" r:id="rId8"/>
    <p:sldId id="258" r:id="rId9"/>
    <p:sldId id="262" r:id="rId10"/>
    <p:sldId id="260" r:id="rId11"/>
    <p:sldId id="264" r:id="rId12"/>
    <p:sldId id="263" r:id="rId13"/>
    <p:sldId id="268" r:id="rId14"/>
    <p:sldId id="267" r:id="rId15"/>
    <p:sldId id="266" r:id="rId16"/>
    <p:sldId id="271" r:id="rId17"/>
    <p:sldId id="270" r:id="rId18"/>
    <p:sldId id="273" r:id="rId19"/>
    <p:sldId id="272" r:id="rId20"/>
    <p:sldId id="277" r:id="rId21"/>
    <p:sldId id="276" r:id="rId22"/>
    <p:sldId id="318" r:id="rId23"/>
    <p:sldId id="316" r:id="rId24"/>
    <p:sldId id="317" r:id="rId25"/>
    <p:sldId id="281" r:id="rId26"/>
    <p:sldId id="282" r:id="rId27"/>
    <p:sldId id="284" r:id="rId28"/>
    <p:sldId id="280" r:id="rId29"/>
    <p:sldId id="319" r:id="rId30"/>
    <p:sldId id="285" r:id="rId31"/>
    <p:sldId id="312" r:id="rId32"/>
    <p:sldId id="313" r:id="rId33"/>
    <p:sldId id="283" r:id="rId34"/>
    <p:sldId id="288" r:id="rId35"/>
    <p:sldId id="287" r:id="rId36"/>
    <p:sldId id="286" r:id="rId37"/>
    <p:sldId id="291" r:id="rId38"/>
    <p:sldId id="290" r:id="rId39"/>
    <p:sldId id="292" r:id="rId40"/>
    <p:sldId id="294" r:id="rId41"/>
    <p:sldId id="293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14" r:id="rId53"/>
    <p:sldId id="315" r:id="rId5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C80E30C-748F-4A76-AACE-30F91034588A}">
          <p14:sldIdLst>
            <p14:sldId id="256"/>
            <p14:sldId id="308"/>
            <p14:sldId id="310"/>
            <p14:sldId id="309"/>
            <p14:sldId id="259"/>
            <p14:sldId id="258"/>
            <p14:sldId id="262"/>
            <p14:sldId id="260"/>
          </p14:sldIdLst>
        </p14:section>
        <p14:section name="Untitled Section" id="{DE7024FA-8BD4-4813-BED7-C8ACA29C767C}">
          <p14:sldIdLst>
            <p14:sldId id="264"/>
            <p14:sldId id="263"/>
            <p14:sldId id="268"/>
            <p14:sldId id="267"/>
            <p14:sldId id="266"/>
            <p14:sldId id="271"/>
            <p14:sldId id="270"/>
            <p14:sldId id="273"/>
            <p14:sldId id="272"/>
            <p14:sldId id="277"/>
            <p14:sldId id="276"/>
            <p14:sldId id="318"/>
            <p14:sldId id="316"/>
            <p14:sldId id="317"/>
            <p14:sldId id="281"/>
            <p14:sldId id="282"/>
            <p14:sldId id="284"/>
            <p14:sldId id="280"/>
            <p14:sldId id="319"/>
            <p14:sldId id="285"/>
            <p14:sldId id="312"/>
            <p14:sldId id="313"/>
            <p14:sldId id="283"/>
            <p14:sldId id="288"/>
            <p14:sldId id="287"/>
            <p14:sldId id="286"/>
            <p14:sldId id="291"/>
            <p14:sldId id="290"/>
            <p14:sldId id="292"/>
            <p14:sldId id="294"/>
            <p14:sldId id="293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14"/>
            <p14:sldId id="31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13489397" name="Samah Ahmed" initials="S" lastIdx="3" clrIdx="0"/>
  <p:cmAuthor id="635603435" name="Hager Hassan" initials="H" lastIdx="8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110" d="100"/>
          <a:sy n="110" d="100"/>
        </p:scale>
        <p:origin x="-558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9" Type="http://schemas.openxmlformats.org/officeDocument/2006/relationships/commentAuthors" Target="commentAuthors.xml"/><Relationship Id="rId58" Type="http://schemas.openxmlformats.org/officeDocument/2006/relationships/tableStyles" Target="tableStyles.xml"/><Relationship Id="rId57" Type="http://schemas.openxmlformats.org/officeDocument/2006/relationships/viewProps" Target="viewProps.xml"/><Relationship Id="rId56" Type="http://schemas.openxmlformats.org/officeDocument/2006/relationships/presProps" Target="presProps.xml"/><Relationship Id="rId55" Type="http://schemas.openxmlformats.org/officeDocument/2006/relationships/handoutMaster" Target="handoutMasters/handoutMaster1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635603435" dt="2025-04-25T09:24:28.485" idx="1">
    <p:pos x="10" y="10"/>
    <p:text>Purpose
location acc conf- fiscal position 
main uses 
tax mapping 
acc mappping 
benefit- automated - reducing mistakes ,flexability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635603435" dt="2025-04-25T09:30:30.122" idx="2">
    <p:pos x="10" y="10"/>
    <p:text>تحديد الوحده 
acc use 
cost- price 
bills -statements 
linked to 
product -product category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635603435" dt="2025-04-25T10:02:55.185" idx="3">
    <p:pos x="10" y="10"/>
    <p:text>export - import 
*acc code /name/type/group/parent /currency*
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635603435" dt="2025-04-25T10:23:05.477" idx="4">
    <p:pos x="10" y="10"/>
    <p:text>Landed Cost: إضافة التكاليف الإضافية (الشحن، الضرائب) إلى قيمة المخزون.
Storage Locations: تحديد أماكن التخزين داخل المستودع لتحسين إدارة المخزون.
Multi-Step Routes: إعداد طرق متعددة المراحل لنقل المخزون بين المستودعات أو المراحل المختلفة.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635603435" dt="2025-04-25T10:44:30.353" idx="5">
    <p:pos x="10" y="10"/>
    <p:text>Product Type:
مواد خام (Raw Material): خشب أبلكاش روسي، خشب زين، خشب كونتر
منتج نهائي (Finished Product): دولاب، سرير
التصنيف (Category):
خشب (Wood Products)
أثاث (Furniture)
وحدة القياس (UOM):
خشب: متر مكعب أو وحدة حسب النوع
أثاث: قطعة أو وحدة
المخزون (Inventory):
تتبع الكميات والتكاليف لكل منتج
التكاليف الأساسية لكل منتج (خشب، دهانات، إلخ)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635603435" dt="2025-04-25T10:51:43.359" idx="6">
    <p:pos x="10" y="10"/>
    <p:text>Inventory Product Category:
Finished Goods (منتجات نهائية)
Raw Materials (مواد خام)
Sales Account, Income Account, Expense Account:
Sales Account: تسجيل مبيعات المنتجات
Income Account: تسجيل الإيرادات الناتجة عن المبيعات
Expense Account: تسجيل المصاريف المتعلقة بالإنتاج أو المبيعات
Stock Valuation &amp; Journal:
Stock Input &amp; Stock Output: تتبع دخول وخروج المخزون
Inventory Journal: تسجيل الحركات المالية للمخزون
Cost of Goods Sold (COGS): تكلفة البضائع المباعة
Costing Method - Average Cost:
حساب متوسط تكلفة المنتج عند الشراء.
Automated Inventory Valuation:
التقييم التلقائي للمخزون في النظام.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635603435" dt="2025-04-25T12:16:13.144" idx="7">
    <p:pos x="10" y="10"/>
    <p:text>Purchase Order (خشب أبلكاش روسي)
Vendor Reference: كود الطلب
Tracking: مفعّل
Deliver This Quantity
Taxes &amp; Cost
Product Category</p:text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635603435" dt="2025-04-25T12:20:10.015" idx="8">
    <p:pos x="10" y="10"/>
    <p:text>Vendor: الرضا للتجارة والأخشاب
S.A.M. Mode: بيانات إضافية عن المورد
Vendor Price
Delivery Lead Time</p:text>
  </p:cm>
</p:cmLst>
</file>

<file path=ppt/comments/comment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513489397" dt="2025-04-24T18:38:56.339" idx="3">
    <p:pos x="10" y="10"/>
    <p:text/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san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ar-EG" altLang="en-US"/>
              <a:t>لاننلال</a:t>
            </a:r>
            <a:endParaRPr lang="ar-EG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5" Type="http://schemas.microsoft.com/office/2007/relationships/hdphoto" Target="../media/image4.wdp"/><Relationship Id="rId4" Type="http://schemas.openxmlformats.org/officeDocument/2006/relationships/image" Target="../media/image3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5" Type="http://schemas.microsoft.com/office/2007/relationships/hdphoto" Target="../media/image4.wdp"/><Relationship Id="rId4" Type="http://schemas.openxmlformats.org/officeDocument/2006/relationships/image" Target="../media/image3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5" Type="http://schemas.microsoft.com/office/2007/relationships/hdphoto" Target="../media/image4.wdp"/><Relationship Id="rId4" Type="http://schemas.openxmlformats.org/officeDocument/2006/relationships/image" Target="../media/image5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microsoft.com/office/2007/relationships/hdphoto" Target="../media/image4.wdp"/><Relationship Id="rId4" Type="http://schemas.openxmlformats.org/officeDocument/2006/relationships/image" Target="../media/image5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9B578-CF8E-4A72-A8BE-3C5E0CC6DB9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2E385826-CA59-410A-9F49-4F806138155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  <a:endParaRPr lang="ar-SA"/>
          </a:p>
          <a:p>
            <a:pPr lvl="1"/>
            <a:r>
              <a:rPr lang="ar-SA"/>
              <a:t>المستوى الثاني</a:t>
            </a:r>
            <a:endParaRPr lang="ar-SA"/>
          </a:p>
          <a:p>
            <a:pPr lvl="2"/>
            <a:r>
              <a:rPr lang="ar-SA"/>
              <a:t>المستوى الثالث</a:t>
            </a:r>
            <a:endParaRPr lang="ar-SA"/>
          </a:p>
          <a:p>
            <a:pPr lvl="3"/>
            <a:r>
              <a:rPr lang="ar-SA"/>
              <a:t>المستوى الرابع</a:t>
            </a:r>
            <a:endParaRPr lang="ar-SA"/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9B578-CF8E-4A72-A8BE-3C5E0CC6DB9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85826-CA59-410A-9F49-4F806138155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1E99B578-CF8E-4A72-A8BE-3C5E0CC6DB9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2E385826-CA59-410A-9F49-4F806138155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/>
              <a:t>انقر لتحرير أنماط نص الشكل الرئيسي</a:t>
            </a:r>
            <a:endParaRPr lang="ar-SA"/>
          </a:p>
          <a:p>
            <a:pPr lvl="1"/>
            <a:r>
              <a:rPr lang="ar-SA"/>
              <a:t>المستوى الثاني</a:t>
            </a:r>
            <a:endParaRPr lang="ar-SA"/>
          </a:p>
          <a:p>
            <a:pPr lvl="2"/>
            <a:r>
              <a:rPr lang="ar-SA"/>
              <a:t>المستوى الثالث</a:t>
            </a:r>
            <a:endParaRPr lang="ar-SA"/>
          </a:p>
          <a:p>
            <a:pPr lvl="3"/>
            <a:r>
              <a:rPr lang="ar-SA"/>
              <a:t>المستوى الرابع</a:t>
            </a:r>
            <a:endParaRPr lang="ar-SA"/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/>
              <a:t>انقر لتحرير أنماط نص الشكل الرئيسي</a:t>
            </a:r>
            <a:endParaRPr lang="ar-SA"/>
          </a:p>
          <a:p>
            <a:pPr lvl="1"/>
            <a:r>
              <a:rPr lang="ar-SA"/>
              <a:t>المستوى الثاني</a:t>
            </a:r>
            <a:endParaRPr lang="ar-SA"/>
          </a:p>
          <a:p>
            <a:pPr lvl="2"/>
            <a:r>
              <a:rPr lang="ar-SA"/>
              <a:t>المستوى الثالث</a:t>
            </a:r>
            <a:endParaRPr lang="ar-SA"/>
          </a:p>
          <a:p>
            <a:pPr lvl="3"/>
            <a:r>
              <a:rPr lang="ar-SA"/>
              <a:t>المستوى الرابع</a:t>
            </a:r>
            <a:endParaRPr lang="ar-SA"/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9B578-CF8E-4A72-A8BE-3C5E0CC6DB9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85826-CA59-410A-9F49-4F806138155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  <a:endParaRPr lang="ar-SA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/>
              <a:t>انقر لتحرير أنماط نص الشكل الرئيسي</a:t>
            </a:r>
            <a:endParaRPr lang="ar-SA"/>
          </a:p>
          <a:p>
            <a:pPr lvl="1"/>
            <a:r>
              <a:rPr lang="ar-SA"/>
              <a:t>المستوى الثاني</a:t>
            </a:r>
            <a:endParaRPr lang="ar-SA"/>
          </a:p>
          <a:p>
            <a:pPr lvl="2"/>
            <a:r>
              <a:rPr lang="ar-SA"/>
              <a:t>المستوى الثالث</a:t>
            </a:r>
            <a:endParaRPr lang="ar-SA"/>
          </a:p>
          <a:p>
            <a:pPr lvl="3"/>
            <a:r>
              <a:rPr lang="ar-SA"/>
              <a:t>المستوى الرابع</a:t>
            </a:r>
            <a:endParaRPr lang="ar-SA"/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  <a:endParaRPr lang="ar-SA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/>
              <a:t>انقر لتحرير أنماط نص الشكل الرئيسي</a:t>
            </a:r>
            <a:endParaRPr lang="ar-SA"/>
          </a:p>
          <a:p>
            <a:pPr lvl="1"/>
            <a:r>
              <a:rPr lang="ar-SA"/>
              <a:t>المستوى الثاني</a:t>
            </a:r>
            <a:endParaRPr lang="ar-SA"/>
          </a:p>
          <a:p>
            <a:pPr lvl="2"/>
            <a:r>
              <a:rPr lang="ar-SA"/>
              <a:t>المستوى الثالث</a:t>
            </a:r>
            <a:endParaRPr lang="ar-SA"/>
          </a:p>
          <a:p>
            <a:pPr lvl="3"/>
            <a:r>
              <a:rPr lang="ar-SA"/>
              <a:t>المستوى الرابع</a:t>
            </a:r>
            <a:endParaRPr lang="ar-SA"/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9B578-CF8E-4A72-A8BE-3C5E0CC6DB9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85826-CA59-410A-9F49-4F806138155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9B578-CF8E-4A72-A8BE-3C5E0CC6DB9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85826-CA59-410A-9F49-4F806138155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9B578-CF8E-4A72-A8BE-3C5E0CC6DB9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85826-CA59-410A-9F49-4F806138155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/>
              <a:t>انقر لتحرير أنماط نص الشكل الرئيسي</a:t>
            </a:r>
            <a:endParaRPr lang="ar-SA"/>
          </a:p>
          <a:p>
            <a:pPr lvl="1"/>
            <a:r>
              <a:rPr lang="ar-SA"/>
              <a:t>المستوى الثاني</a:t>
            </a:r>
            <a:endParaRPr lang="ar-SA"/>
          </a:p>
          <a:p>
            <a:pPr lvl="2"/>
            <a:r>
              <a:rPr lang="ar-SA"/>
              <a:t>المستوى الثالث</a:t>
            </a:r>
            <a:endParaRPr lang="ar-SA"/>
          </a:p>
          <a:p>
            <a:pPr lvl="3"/>
            <a:r>
              <a:rPr lang="ar-SA"/>
              <a:t>المستوى الرابع</a:t>
            </a:r>
            <a:endParaRPr lang="ar-SA"/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  <a:endParaRPr lang="ar-S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9B578-CF8E-4A72-A8BE-3C5E0CC6DB9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-40000" contrast="20000"/>
                        </a14:imgEffect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85826-CA59-410A-9F49-4F806138155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  <a:endParaRPr lang="ar-S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9B578-CF8E-4A72-A8BE-3C5E0CC6DB99}" type="datetimeFigureOut">
              <a:rPr lang="en-US" smtClean="0"/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-40000" contrast="20000"/>
                        </a14:imgEffect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85826-CA59-410A-9F49-4F806138155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  <a:endParaRPr lang="ar-SA"/>
          </a:p>
          <a:p>
            <a:pPr lvl="1"/>
            <a:r>
              <a:rPr lang="ar-SA"/>
              <a:t>المستوى الثاني</a:t>
            </a:r>
            <a:endParaRPr lang="ar-SA"/>
          </a:p>
          <a:p>
            <a:pPr lvl="2"/>
            <a:r>
              <a:rPr lang="ar-SA"/>
              <a:t>المستوى الثالث</a:t>
            </a:r>
            <a:endParaRPr lang="ar-SA"/>
          </a:p>
          <a:p>
            <a:pPr lvl="3"/>
            <a:r>
              <a:rPr lang="ar-SA"/>
              <a:t>المستوى الرابع</a:t>
            </a:r>
            <a:endParaRPr lang="ar-SA"/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9B578-CF8E-4A72-A8BE-3C5E0CC6DB9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85826-CA59-410A-9F49-4F806138155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  <a:endParaRPr lang="ar-SA"/>
          </a:p>
          <a:p>
            <a:pPr lvl="1"/>
            <a:r>
              <a:rPr lang="ar-SA"/>
              <a:t>المستوى الثاني</a:t>
            </a:r>
            <a:endParaRPr lang="ar-SA"/>
          </a:p>
          <a:p>
            <a:pPr lvl="2"/>
            <a:r>
              <a:rPr lang="ar-SA"/>
              <a:t>المستوى الثالث</a:t>
            </a:r>
            <a:endParaRPr lang="ar-SA"/>
          </a:p>
          <a:p>
            <a:pPr lvl="3"/>
            <a:r>
              <a:rPr lang="ar-SA"/>
              <a:t>المستوى الرابع</a:t>
            </a:r>
            <a:endParaRPr lang="ar-SA"/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9B578-CF8E-4A72-A8BE-3C5E0CC6DB9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85826-CA59-410A-9F49-4F806138155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3.png"/><Relationship Id="rId13" Type="http://schemas.microsoft.com/office/2007/relationships/hdphoto" Target="../media/image4.wdp"/><Relationship Id="rId12" Type="http://schemas.openxmlformats.org/officeDocument/2006/relationships/image" Target="../media/image5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  <a:endParaRPr lang="ar-SA"/>
          </a:p>
          <a:p>
            <a:pPr lvl="1"/>
            <a:r>
              <a:rPr lang="ar-SA"/>
              <a:t>المستوى الثاني</a:t>
            </a:r>
            <a:endParaRPr lang="ar-SA"/>
          </a:p>
          <a:p>
            <a:pPr lvl="2"/>
            <a:r>
              <a:rPr lang="ar-SA"/>
              <a:t>المستوى الثالث</a:t>
            </a:r>
            <a:endParaRPr lang="ar-SA"/>
          </a:p>
          <a:p>
            <a:pPr lvl="3"/>
            <a:r>
              <a:rPr lang="ar-SA"/>
              <a:t>المستوى الرابع</a:t>
            </a:r>
            <a:endParaRPr lang="ar-SA"/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1E99B578-CF8E-4A72-A8BE-3C5E0CC6DB9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brightnessContrast bright="-40000" contrast="20000"/>
                        </a14:imgEffect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2E385826-CA59-410A-9F49-4F806138155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89992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275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99995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comments" Target="../comments/comment1.xml"/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jpe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comments" Target="../comments/comment9.xml"/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2.jpe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3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4.jpe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5.jpe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6.jpe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7.jpe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8.jpe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9.jpe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0.jpe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1.jpe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2.jpe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ctrTitle"/>
          </p:nvPr>
        </p:nvSpPr>
        <p:spPr>
          <a:xfrm>
            <a:off x="2002972" y="1724472"/>
            <a:ext cx="9144000" cy="2387600"/>
          </a:xfrm>
        </p:spPr>
        <p:txBody>
          <a:bodyPr/>
          <a:lstStyle/>
          <a:p>
            <a:r>
              <a:rPr lang="en-US" dirty="0"/>
              <a:t>SAH Furniture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/>
        </p:nvSpPr>
        <p:spPr>
          <a:xfrm>
            <a:off x="821563" y="225983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9992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275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99995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</a:p>
        </p:txBody>
      </p:sp>
      <p:sp>
        <p:nvSpPr>
          <p:cNvPr id="6" name="Title 1"/>
          <p:cNvSpPr>
            <a:spLocks noGrp="1"/>
          </p:cNvSpPr>
          <p:nvPr/>
        </p:nvSpPr>
        <p:spPr>
          <a:xfrm>
            <a:off x="375920" y="421640"/>
            <a:ext cx="11588750" cy="832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5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t>Company Background</a:t>
            </a:r>
            <a:r>
              <a:rPr lang="en-US"/>
              <a:t> </a:t>
            </a:r>
            <a:r>
              <a:t>&amp;</a:t>
            </a:r>
            <a:r>
              <a:rPr lang="en-US"/>
              <a:t> </a:t>
            </a:r>
            <a:r>
              <a:t>Business Challenges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21690" y="1710690"/>
            <a:ext cx="10351135" cy="488696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sz="1600"/>
          </a:p>
          <a:p>
            <a:pPr>
              <a:buFont typeface="Arial" panose="020B0604020202020204"/>
              <a:buChar char="•"/>
            </a:pPr>
            <a:r>
              <a: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SAH Furniture</a:t>
            </a:r>
            <a:r>
              <a:t> is a local Egyptian furniture manufacturer specializing in bedroom sets such as beds and wardrobes.</a:t>
            </a:r>
          </a:p>
          <a:p>
            <a:pPr>
              <a:buFont typeface="Arial" panose="020B0604020202020204"/>
              <a:buChar char="•"/>
            </a:pPr>
          </a:p>
          <a:p>
            <a:pPr>
              <a:buFont typeface="Arial" panose="020B0604020202020204"/>
              <a:buChar char="•"/>
            </a:pPr>
            <a:r>
              <a:t>The company faces a lack of integration between departments such as Sales, Manufacturing, Inventory, and Procurement.</a:t>
            </a:r>
          </a:p>
          <a:p>
            <a:pPr>
              <a:buFont typeface="Arial" panose="020B0604020202020204"/>
              <a:buChar char="•"/>
            </a:pPr>
          </a:p>
          <a:p>
            <a:pPr>
              <a:buFont typeface="Arial" panose="020B0604020202020204"/>
              <a:buChar char="•"/>
            </a:pPr>
            <a:r>
              <a:t>Sales teams struggle to communicate customized client requirements (like material choices or photos) to the production team.</a:t>
            </a:r>
          </a:p>
          <a:p>
            <a:pPr>
              <a:buFont typeface="Arial" panose="020B0604020202020204"/>
              <a:buChar char="•"/>
            </a:pPr>
          </a:p>
          <a:p>
            <a:pPr>
              <a:buFont typeface="Arial" panose="020B0604020202020204"/>
              <a:buChar char="•"/>
            </a:pPr>
            <a:r>
              <a:t>Raw material availability often delays production due to a lack of automated procurement.</a:t>
            </a:r>
          </a:p>
          <a:p>
            <a:pPr>
              <a:buFont typeface="Arial" panose="020B0604020202020204"/>
              <a:buChar char="•"/>
            </a:pPr>
          </a:p>
          <a:p>
            <a:pPr>
              <a:buFont typeface="Arial" panose="020B0604020202020204"/>
              <a:buChar char="•"/>
            </a:pPr>
            <a:r>
              <a:t>Currency fluctuations make raw material costing unstable, impacting profitability.</a:t>
            </a:r>
          </a:p>
          <a:p>
            <a:pPr>
              <a:buFont typeface="Arial" panose="020B0604020202020204"/>
              <a:buChar char="•"/>
            </a:pPr>
          </a:p>
          <a:p>
            <a:pPr>
              <a:buFont typeface="Arial" panose="020B0604020202020204"/>
              <a:buChar char="•"/>
            </a:pPr>
            <a:r>
              <a:t>There is no visibility or documentation for quality checkpoints or customer approvals before final delivery.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ERP Solution Overview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en-US" sz="1700"/>
              <a:t>Odoo 18 will be used to centralize all departments into one integrated system.</a:t>
            </a:r>
            <a:endParaRPr lang="en-US" altLang="en-US" sz="1700"/>
          </a:p>
          <a:p>
            <a:endParaRPr lang="en-US" altLang="en-US" sz="1700"/>
          </a:p>
          <a:p>
            <a:r>
              <a:rPr lang="en-US" altLang="en-US" sz="1700"/>
              <a:t>Sales Orders will automatically trigger Manufacturing Orders and Purchase Orders.</a:t>
            </a:r>
            <a:endParaRPr lang="en-US" altLang="en-US" sz="1700"/>
          </a:p>
          <a:p>
            <a:endParaRPr lang="en-US" altLang="en-US" sz="1700"/>
          </a:p>
          <a:p>
            <a:r>
              <a:rPr lang="en-US" altLang="en-US" sz="1700"/>
              <a:t>Bills of Materials (BoMs) define the exact structure and cost of products, including semi-finished components.</a:t>
            </a:r>
            <a:endParaRPr lang="en-US" altLang="en-US" sz="1700"/>
          </a:p>
          <a:p>
            <a:endParaRPr lang="en-US" altLang="en-US" sz="1700"/>
          </a:p>
          <a:p>
            <a:r>
              <a:rPr lang="en-US" altLang="en-US" sz="1700"/>
              <a:t>Quality checkpoints will be used to take photos during assembly and finishing stages, helping secure customer approvals.</a:t>
            </a:r>
            <a:endParaRPr lang="en-US" altLang="en-US" sz="1700"/>
          </a:p>
          <a:p>
            <a:endParaRPr lang="en-US" altLang="en-US" sz="1700"/>
          </a:p>
          <a:p>
            <a:r>
              <a:rPr lang="en-US" altLang="en-US" sz="1700"/>
              <a:t>Cost centers and foreign currency entries will ensure accurate profitability tracking.</a:t>
            </a:r>
            <a:endParaRPr lang="en-US" altLang="en-US" sz="1700"/>
          </a:p>
          <a:p>
            <a:r>
              <a:rPr lang="en-US" altLang="en-US" sz="1700"/>
              <a:t>Workflow automation will reduce manual errors and speed up decision-making.</a:t>
            </a:r>
            <a:endParaRPr lang="en-US" altLang="en-US"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Project Goals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Deliver a working Odoo 18 demo for a real-world furniture manufacturing company.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Simulate the full production flow of a bedroom set (bed + wardrobe) from sales to delivery.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Use actual Egyptian market data for raw materials like wood, fittings, and paints.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Track the full product lifecycle: from Quotation → Sales Order → Manufacturing → Quality → Delivery.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Showcase full integration between the Sales, Manufacturing, Purchase, Inventory, and Accounting modules.</a:t>
            </a:r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عنصر نائب للمحتوى 4" descr="صورة تحتوي على نص, برمجيات, أيقونة الحاسوب, برامج الوسائط المتعددة&#10;&#10;قد يكون المحتوى المعد بواسطة الذكاء الاصطناعي غير صحيح.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64105"/>
            <a:ext cx="12192000" cy="5493895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عنصر نائب للمحتوى 4" descr="صورة تحتوي على نص, لقطة شاشة, برمجيات&#10;&#10;قد يكون المحتوى المعد بواسطة الذكاء الاصطناعي غير صحيح.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43987"/>
            <a:ext cx="12192000" cy="5314013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عنصر نائب للمحتوى 4" descr="صورة تحتوي على نص, برمجيات, أيقونة الحاسوب, صفحة ويب&#10;&#10;قد يكون المحتوى المعد بواسطة الذكاء الاصطناعي غير صحيح.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64105"/>
            <a:ext cx="12192000" cy="5493895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عنصر نائب للمحتوى 4" descr="صورة تحتوي على نص, برمجيات, أيقونة الحاسوب, صفحة ويب&#10;&#10;قد يكون المحتوى المعد بواسطة الذكاء الاصطناعي غير صحيح.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24066"/>
            <a:ext cx="12192000" cy="5433934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عنصر نائب للمحتوى 4" descr="صورة تحتوي على نص, برمجيات, لقطة شاشة, أيقونة الحاسوب&#10;&#10;قد يكون المحتوى المعد بواسطة الذكاء الاصطناعي غير صحيح.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04144"/>
            <a:ext cx="12192000" cy="5553856"/>
          </a:xfr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عنصر نائب للمحتوى 4" descr="صورة تحتوي على نص, لقطة شاشة, رقم, الخط&#10;&#10;قد يكون المحتوى المعد بواسطة الذكاء الاصطناعي غير صحيح.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64105"/>
            <a:ext cx="12192000" cy="5493895"/>
          </a:xfr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عنصر نائب للمحتوى 4" descr="صورة تحتوي على نص, لقطة شاشة, برمجيات, صفحة ويب&#10;&#10;قد يكون المحتوى المعد بواسطة الذكاء الاصطناعي غير صحيح.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4125"/>
            <a:ext cx="12192000" cy="5523875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عنصر نائب للمحتوى 4" descr="صورة تحتوي على نص, رقم, الخط, لقطة شاشة&#10;&#10;قد يكون المحتوى المعد بواسطة الذكاء الاصطناعي غير صحيح.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99017"/>
            <a:ext cx="12192000" cy="5358984"/>
          </a:xfr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عنصر نائب للمحتوى 4" descr="صورة تحتوي على نص, برمجيات, لقطة شاشة, أيقونة الحاسوب&#10;&#10;قد يكون المحتوى المعد بواسطة الذكاء الاصطناعي غير صحيح.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9134"/>
            <a:ext cx="12192000" cy="5538866"/>
          </a:xfr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عنصر نائب للمحتوى 4" descr="صورة تحتوي على نص, برمجيات, لقطة شاشة, أيقونة الحاسوب&#10;&#10;قد يكون المحتوى المعد بواسطة الذكاء الاصطناعي غير صحيح.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04144"/>
            <a:ext cx="12192000" cy="5553856"/>
          </a:xfr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عنصر نائب للمحتوى 4" descr="صورة تحتوي على نص, لقطة شاشة, برمجيات, رقم&#10;&#10;قد يكون المحتوى المعد بواسطة الذكاء الاصطناعي غير صحيح.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244184"/>
            <a:ext cx="12192000" cy="5613816"/>
          </a:xfr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عنصر نائب للمحتوى 4" descr="صورة تحتوي على نص, رقم, لقطة شاشة&#10;&#10;قد يكون المحتوى المعد بواسطة الذكاء الاصطناعي غير صحيح.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4164"/>
            <a:ext cx="12191999" cy="5583836"/>
          </a:xfr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عنصر نائب للمحتوى 4" descr="صورة تحتوي على نص, برمجيات, أيقونة الحاسوب, لقطة شاشة&#10;&#10;قد يكون المحتوى المعد بواسطة الذكاء الاصطناعي غير صحيح.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4164"/>
            <a:ext cx="12191999" cy="5583836"/>
          </a:xfr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عنصر نائب للمحتوى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54243"/>
            <a:ext cx="12192000" cy="5703757"/>
          </a:xfr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عنصر نائب للمحتوى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4164"/>
            <a:ext cx="12192000" cy="5583836"/>
          </a:xfr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770" y="888521"/>
            <a:ext cx="11938958" cy="5814202"/>
          </a:xfrm>
        </p:spPr>
      </p:pic>
      <p:sp>
        <p:nvSpPr>
          <p:cNvPr id="5" name="TextBox 4"/>
          <p:cNvSpPr txBox="1"/>
          <p:nvPr/>
        </p:nvSpPr>
        <p:spPr>
          <a:xfrm>
            <a:off x="457200" y="284671"/>
            <a:ext cx="11360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EG" dirty="0" smtClean="0"/>
              <a:t>تم تفعيل خيار </a:t>
            </a:r>
            <a:r>
              <a:rPr lang="en-US" dirty="0" smtClean="0"/>
              <a:t>Replenish on Order (MTO) </a:t>
            </a:r>
            <a:r>
              <a:rPr lang="ar-EG" dirty="0"/>
              <a:t> </a:t>
            </a:r>
            <a:r>
              <a:rPr lang="ar-EG" dirty="0" smtClean="0"/>
              <a:t>مع تفعيل خيار </a:t>
            </a:r>
            <a:r>
              <a:rPr lang="en-US" dirty="0" smtClean="0"/>
              <a:t>Manufacture</a:t>
            </a:r>
            <a:r>
              <a:rPr lang="ar-EG" dirty="0" smtClean="0"/>
              <a:t> لعمل </a:t>
            </a:r>
            <a:r>
              <a:rPr lang="en-US" dirty="0" smtClean="0"/>
              <a:t>Automatic Mo</a:t>
            </a:r>
            <a:r>
              <a:rPr lang="ar-EG" dirty="0" smtClean="0"/>
              <a:t>عند عمل </a:t>
            </a:r>
            <a:r>
              <a:rPr lang="en-US" dirty="0" smtClean="0"/>
              <a:t>Sales Order</a:t>
            </a:r>
            <a:r>
              <a:rPr lang="ar-EG" dirty="0" smtClean="0"/>
              <a:t> لهذا المنتج</a:t>
            </a:r>
            <a:endParaRPr lang="en-US" dirty="0"/>
          </a:p>
        </p:txBody>
      </p:sp>
      <p:sp>
        <p:nvSpPr>
          <p:cNvPr id="6" name="Left Arrow 5"/>
          <p:cNvSpPr/>
          <p:nvPr/>
        </p:nvSpPr>
        <p:spPr>
          <a:xfrm>
            <a:off x="1966823" y="5171536"/>
            <a:ext cx="978408" cy="12939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Arrow 6"/>
          <p:cNvSpPr/>
          <p:nvPr/>
        </p:nvSpPr>
        <p:spPr>
          <a:xfrm>
            <a:off x="1477619" y="5634487"/>
            <a:ext cx="978408" cy="12939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90" y="914400"/>
            <a:ext cx="12097109" cy="5874588"/>
          </a:xfrm>
        </p:spPr>
      </p:pic>
      <p:sp>
        <p:nvSpPr>
          <p:cNvPr id="5" name="TextBox 4"/>
          <p:cNvSpPr txBox="1"/>
          <p:nvPr/>
        </p:nvSpPr>
        <p:spPr>
          <a:xfrm>
            <a:off x="457200" y="284671"/>
            <a:ext cx="11360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EG" dirty="0" smtClean="0"/>
              <a:t>تم تفعيل خيار </a:t>
            </a:r>
            <a:r>
              <a:rPr lang="en-US" dirty="0" smtClean="0"/>
              <a:t>Replenish on Order (MTO) </a:t>
            </a:r>
            <a:r>
              <a:rPr lang="ar-EG" dirty="0"/>
              <a:t> </a:t>
            </a:r>
            <a:r>
              <a:rPr lang="ar-EG" dirty="0" smtClean="0"/>
              <a:t>مع تفعيل خيار </a:t>
            </a:r>
            <a:r>
              <a:rPr lang="en-US" dirty="0" smtClean="0"/>
              <a:t>Manufacture</a:t>
            </a:r>
            <a:r>
              <a:rPr lang="ar-EG" dirty="0" smtClean="0"/>
              <a:t> لعمل </a:t>
            </a:r>
            <a:r>
              <a:rPr lang="en-US" dirty="0" smtClean="0"/>
              <a:t>Automatic Mo</a:t>
            </a:r>
            <a:r>
              <a:rPr lang="ar-EG" dirty="0" smtClean="0"/>
              <a:t>عند عمل </a:t>
            </a:r>
            <a:r>
              <a:rPr lang="en-US" dirty="0" smtClean="0"/>
              <a:t>Sales Order</a:t>
            </a:r>
            <a:r>
              <a:rPr lang="ar-EG" dirty="0" smtClean="0"/>
              <a:t> لهذا المنتج</a:t>
            </a:r>
            <a:endParaRPr lang="en-US" dirty="0"/>
          </a:p>
        </p:txBody>
      </p:sp>
      <p:sp>
        <p:nvSpPr>
          <p:cNvPr id="6" name="Left Arrow 5"/>
          <p:cNvSpPr/>
          <p:nvPr/>
        </p:nvSpPr>
        <p:spPr>
          <a:xfrm>
            <a:off x="2044460" y="5124091"/>
            <a:ext cx="978408" cy="24231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Arrow 7"/>
          <p:cNvSpPr/>
          <p:nvPr/>
        </p:nvSpPr>
        <p:spPr>
          <a:xfrm>
            <a:off x="1644769" y="5612921"/>
            <a:ext cx="978408" cy="24231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902" y="957531"/>
            <a:ext cx="11956211" cy="5805578"/>
          </a:xfrm>
        </p:spPr>
      </p:pic>
      <p:sp>
        <p:nvSpPr>
          <p:cNvPr id="5" name="TextBox 4"/>
          <p:cNvSpPr txBox="1"/>
          <p:nvPr/>
        </p:nvSpPr>
        <p:spPr>
          <a:xfrm>
            <a:off x="543464" y="284671"/>
            <a:ext cx="11360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EG" dirty="0" smtClean="0"/>
              <a:t>تم تفعيل خيار </a:t>
            </a:r>
            <a:r>
              <a:rPr lang="en-US" dirty="0" smtClean="0"/>
              <a:t>Replenish on Order (MTO) </a:t>
            </a:r>
            <a:r>
              <a:rPr lang="ar-EG" dirty="0"/>
              <a:t> </a:t>
            </a:r>
            <a:r>
              <a:rPr lang="ar-EG" dirty="0" smtClean="0"/>
              <a:t>مع تفعيل خيار </a:t>
            </a:r>
            <a:r>
              <a:rPr lang="en-US" dirty="0" smtClean="0"/>
              <a:t>Manufacture</a:t>
            </a:r>
            <a:r>
              <a:rPr lang="ar-EG" dirty="0" smtClean="0"/>
              <a:t> لعمل </a:t>
            </a:r>
            <a:r>
              <a:rPr lang="en-US" dirty="0" smtClean="0"/>
              <a:t>Automatic Mo</a:t>
            </a:r>
            <a:r>
              <a:rPr lang="ar-EG" dirty="0" smtClean="0"/>
              <a:t>عند عمل </a:t>
            </a:r>
            <a:r>
              <a:rPr lang="en-US" dirty="0" smtClean="0"/>
              <a:t>Sales Order</a:t>
            </a:r>
            <a:r>
              <a:rPr lang="ar-EG" dirty="0" smtClean="0"/>
              <a:t> لهذا المنتج</a:t>
            </a:r>
            <a:endParaRPr lang="en-US" dirty="0"/>
          </a:p>
        </p:txBody>
      </p:sp>
      <p:sp>
        <p:nvSpPr>
          <p:cNvPr id="6" name="Left Arrow 5"/>
          <p:cNvSpPr/>
          <p:nvPr/>
        </p:nvSpPr>
        <p:spPr>
          <a:xfrm>
            <a:off x="1984075" y="5331124"/>
            <a:ext cx="707366" cy="18978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Arrow 6"/>
          <p:cNvSpPr/>
          <p:nvPr/>
        </p:nvSpPr>
        <p:spPr>
          <a:xfrm>
            <a:off x="1558505" y="5845832"/>
            <a:ext cx="707366" cy="18978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23" y="966159"/>
            <a:ext cx="11904452" cy="5814204"/>
          </a:xfrm>
        </p:spPr>
      </p:pic>
      <p:sp>
        <p:nvSpPr>
          <p:cNvPr id="4" name="TextBox 3"/>
          <p:cNvSpPr txBox="1"/>
          <p:nvPr/>
        </p:nvSpPr>
        <p:spPr>
          <a:xfrm>
            <a:off x="3271900" y="236397"/>
            <a:ext cx="8536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dirty="0" smtClean="0"/>
              <a:t>إضافة قائمة المواد الخام التي يتكون منها المنتج المراد تصنيعه والتي تم الحصول عليها من العميل  </a:t>
            </a:r>
            <a:endParaRPr lang="en-US" dirty="0"/>
          </a:p>
        </p:txBody>
      </p:sp>
      <p:sp>
        <p:nvSpPr>
          <p:cNvPr id="7" name="Up Arrow 6"/>
          <p:cNvSpPr/>
          <p:nvPr/>
        </p:nvSpPr>
        <p:spPr>
          <a:xfrm>
            <a:off x="2813538" y="1213338"/>
            <a:ext cx="158261" cy="316523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Arrow 7"/>
          <p:cNvSpPr/>
          <p:nvPr/>
        </p:nvSpPr>
        <p:spPr>
          <a:xfrm>
            <a:off x="1833196" y="1821943"/>
            <a:ext cx="505558" cy="20028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/>
          <p:cNvSpPr/>
          <p:nvPr/>
        </p:nvSpPr>
        <p:spPr>
          <a:xfrm>
            <a:off x="3420208" y="2093008"/>
            <a:ext cx="512416" cy="1651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43" y="879893"/>
            <a:ext cx="11947585" cy="5883215"/>
          </a:xfr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781" y="931651"/>
            <a:ext cx="11973464" cy="5753819"/>
          </a:xfrm>
        </p:spPr>
      </p:pic>
      <p:sp>
        <p:nvSpPr>
          <p:cNvPr id="4" name="Right Arrow 3"/>
          <p:cNvSpPr/>
          <p:nvPr/>
        </p:nvSpPr>
        <p:spPr>
          <a:xfrm>
            <a:off x="3830127" y="2984739"/>
            <a:ext cx="667857" cy="2070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89781" y="5909094"/>
            <a:ext cx="1311215" cy="75049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12037" y="514073"/>
            <a:ext cx="4079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dirty="0" smtClean="0"/>
              <a:t>إضافة عمليات التصنيع والوقت الذي تحتاجه كل عملية</a:t>
            </a:r>
            <a:endParaRPr lang="en-US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18" y="966158"/>
            <a:ext cx="12088482" cy="5745193"/>
          </a:xfr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43" y="560717"/>
            <a:ext cx="11956212" cy="6193766"/>
          </a:xfr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76" y="1138688"/>
            <a:ext cx="11878574" cy="4364966"/>
          </a:xfrm>
        </p:spPr>
      </p:pic>
      <p:sp>
        <p:nvSpPr>
          <p:cNvPr id="8" name="TextBox 7"/>
          <p:cNvSpPr txBox="1"/>
          <p:nvPr/>
        </p:nvSpPr>
        <p:spPr>
          <a:xfrm>
            <a:off x="9431879" y="445061"/>
            <a:ext cx="24913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dirty="0" smtClean="0"/>
              <a:t>إضافة مراكز التصنيع أو الآلات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2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37360" y="2121535"/>
            <a:ext cx="8722360" cy="405066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92250" y="903605"/>
            <a:ext cx="7644130" cy="526859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عنصر نائب للمحتوى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244184"/>
            <a:ext cx="12192000" cy="5613816"/>
          </a:xfr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عنصر نائب للمحتوى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39253"/>
            <a:ext cx="12192000" cy="5718748"/>
          </a:xfr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عنصر نائب للمحتوى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59174"/>
            <a:ext cx="12192000" cy="5598826"/>
          </a:xfr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عنصر نائب للمحتوى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4125"/>
            <a:ext cx="12192000" cy="5523875"/>
          </a:xfr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عنصر نائب للمحتوى 12" descr="صورة تحتوي على نص, لقطة شاشة, رقم, برمجيات&#10;&#10;قد يكون المحتوى المعد بواسطة الذكاء الاصطناعي غير صحيح.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9154"/>
            <a:ext cx="12192000" cy="5568846"/>
          </a:xfr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عنصر نائب للمحتوى 8" descr="صورة تحتوي على نص, لقطة شاشة, رقم, برمجيات&#10;&#10;قد يكون المحتوى المعد بواسطة الذكاء الاصطناعي غير صحيح.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04144"/>
            <a:ext cx="12192000" cy="5553856"/>
          </a:xfr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عنصر نائب للمحتوى 12" descr="صورة تحتوي على نص, رقم, برمجيات, الخط&#10;&#10;قد يكون المحتوى المعد بواسطة الذكاء الاصطناعي غير صحيح.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379095"/>
            <a:ext cx="12192000" cy="5478905"/>
          </a:xfr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عنصر نائب للمحتوى 4" descr="صورة تحتوي على نص, رقم, الخط, لقطة شاشة&#10;&#10;قد يكون المحتوى المعد بواسطة الذكاء الاصطناعي غير صحيح.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274164"/>
            <a:ext cx="12192000" cy="5583836"/>
          </a:xfr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عنصر نائب للمحتوى 8" descr="صورة تحتوي على نص, رقم, لقطة شاشة&#10;&#10;قد يكون المحتوى المعد بواسطة الذكاء الاصطناعي غير صحيح.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4164"/>
            <a:ext cx="12191999" cy="5583836"/>
          </a:xfr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عنصر نائب للمحتوى 4" descr="صورة تحتوي على نص, لقطة شاشة, رقم&#10;&#10;قد يكون المحتوى المعد بواسطة الذكاء الاصطناعي غير صحيح.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4223"/>
            <a:ext cx="12192000" cy="5673777"/>
          </a:xfr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عنصر نائب للمحتوى 4" descr="صورة تحتوي على نص, لقطة شاشة, برمجيات, برامج الوسائط المتعددة&#10;&#10;قد يكون المحتوى المعد بواسطة الذكاء الاصطناعي غير صحيح.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9154"/>
            <a:ext cx="12192000" cy="5568846"/>
          </a:xfr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عنصر نائب للمحتوى 4" descr="صورة تحتوي على نص, برمجيات, برامج الوسائط المتعددة, أيقونة الحاسوب&#10;&#10;قد يكون المحتوى المعد بواسطة الذكاء الاصطناعي غير صحيح.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244184"/>
            <a:ext cx="12192000" cy="5613816"/>
          </a:xfr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عنصر نائب للمحتوى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4164"/>
            <a:ext cx="12192000" cy="5583836"/>
          </a:xfr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عنصر نائب للمحتوى 4" descr="صورة تحتوي على نص, الخط, رقم, خط&#10;&#10;قد يكون المحتوى المعد بواسطة الذكاء الاصطناعي غير صحيح.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4125"/>
            <a:ext cx="12192000" cy="5523875"/>
          </a:xfr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عنصر نائب للمحتوى 4" descr="صورة تحتوي على نص, لقطة شاشة&#10;&#10;قد يكون المحتوى المعد بواسطة الذكاء الاصطناعي غير صحيح.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04144"/>
            <a:ext cx="12192000" cy="5553856"/>
          </a:xfr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عنصر نائب للمحتوى 4" descr="صورة تحتوي على نص, لقطة شاشة&#10;&#10;قد يكون المحتوى المعد بواسطة الذكاء الاصطناعي غير صحيح.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4164"/>
            <a:ext cx="12192000" cy="5583836"/>
          </a:xfr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عنصر نائب للمحتوى 4" descr="صورة تحتوي على نص, الخط, لقطة شاشة, خط&#10;&#10;قد يكون المحتوى المعد بواسطة الذكاء الاصطناعي غير صحيح.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4202"/>
            <a:ext cx="12191999" cy="5643797"/>
          </a:xfr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عنصر نائب للمحتوى 4" descr="صورة تحتوي على نص, لقطة شاشة, رقم&#10;&#10;قد يكون المحتوى المعد بواسطة الذكاء الاصطناعي غير صحيح.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9155"/>
            <a:ext cx="12191999" cy="5568846"/>
          </a:xfr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عنصر نائب للمحتوى 4" descr="صورة تحتوي على لقطة شاشة, نص&#10;&#10;قد يكون المحتوى المعد بواسطة الذكاء الاصطناعي غير صحيح.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4164"/>
            <a:ext cx="12191999" cy="5583836"/>
          </a:xfr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33270" y="2121535"/>
            <a:ext cx="8131175" cy="4050665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5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84672" y="957533"/>
            <a:ext cx="11637034" cy="5214668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jpeg"/></Relationships>
</file>

<file path=ppt/theme/theme1.xml><?xml version="1.0" encoding="utf-8"?>
<a:theme xmlns:a="http://schemas.openxmlformats.org/drawingml/2006/main" name="نوع الخشب">
  <a:themeElements>
    <a:clrScheme name="نوع الخشب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نوع الخشب">
      <a:majorFont>
        <a:latin typeface="Rockwell Condensed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نوع الخشب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نوع الخشب</Template>
  <TotalTime>0</TotalTime>
  <Words>2242</Words>
  <Application>WPS Slides</Application>
  <PresentationFormat>Custom</PresentationFormat>
  <Paragraphs>53</Paragraphs>
  <Slides>51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51</vt:i4>
      </vt:variant>
    </vt:vector>
  </HeadingPairs>
  <TitlesOfParts>
    <vt:vector size="63" baseType="lpstr">
      <vt:lpstr>Arial</vt:lpstr>
      <vt:lpstr>SimSun</vt:lpstr>
      <vt:lpstr>Wingdings</vt:lpstr>
      <vt:lpstr>Arial</vt:lpstr>
      <vt:lpstr>Rockwell Condensed</vt:lpstr>
      <vt:lpstr>Microsoft YaHei</vt:lpstr>
      <vt:lpstr>Arial Unicode MS</vt:lpstr>
      <vt:lpstr>Times New Roman</vt:lpstr>
      <vt:lpstr>Aldhabi</vt:lpstr>
      <vt:lpstr>Rockwell</vt:lpstr>
      <vt:lpstr>Calibri</vt:lpstr>
      <vt:lpstr>نوع الخشب</vt:lpstr>
      <vt:lpstr>SAH Furniture</vt:lpstr>
      <vt:lpstr>PowerPoint 演示文稿</vt:lpstr>
      <vt:lpstr>ERP Solution Overview</vt:lpstr>
      <vt:lpstr>Project Goals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SAH Furniture</dc:title>
  <dc:creator>Mahmoud Zidan</dc:creator>
  <cp:lastModifiedBy>Samah Ahmed</cp:lastModifiedBy>
  <cp:revision>17</cp:revision>
  <dcterms:created xsi:type="dcterms:W3CDTF">2025-04-22T19:32:00Z</dcterms:created>
  <dcterms:modified xsi:type="dcterms:W3CDTF">2025-04-30T17:07:47Z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C3FE5105F25146B493086E280C91C564_12</vt:lpwstr>
  </property>
  <property fmtid="{D5CDD505-2E9C-101B-9397-08002B2CF9AE}" pid="3" name="KSOProductBuildVer">
    <vt:lpwstr>1033-12.2.0.20795</vt:lpwstr>
  </property>
</Properties>
</file>